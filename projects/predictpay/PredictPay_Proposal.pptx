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98464" y="548640"/>
            <a:ext cx="2926080" cy="0"/>
          </a:xfrm>
          <a:prstGeom prst="line">
            <a:avLst/>
          </a:prstGeom>
          <a:noFill/>
          <a:ln w="6350">
            <a:solidFill>
              <a:srgbClr val="065F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98464" y="1143000"/>
            <a:ext cx="2926080" cy="0"/>
          </a:xfrm>
          <a:prstGeom prst="line">
            <a:avLst/>
          </a:prstGeom>
          <a:noFill/>
          <a:ln w="6350">
            <a:solidFill>
              <a:srgbClr val="065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98464" y="1737360"/>
            <a:ext cx="2926080" cy="0"/>
          </a:xfrm>
          <a:prstGeom prst="line">
            <a:avLst/>
          </a:prstGeom>
          <a:noFill/>
          <a:ln w="6350">
            <a:solidFill>
              <a:srgbClr val="065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98464" y="2331720"/>
            <a:ext cx="2926080" cy="0"/>
          </a:xfrm>
          <a:prstGeom prst="line">
            <a:avLst/>
          </a:prstGeom>
          <a:noFill/>
          <a:ln w="6350">
            <a:solidFill>
              <a:srgbClr val="065F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98464" y="2926080"/>
            <a:ext cx="2926080" cy="0"/>
          </a:xfrm>
          <a:prstGeom prst="line">
            <a:avLst/>
          </a:prstGeom>
          <a:noFill/>
          <a:ln w="6350">
            <a:solidFill>
              <a:srgbClr val="065F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98464" y="3520440"/>
            <a:ext cx="2926080" cy="0"/>
          </a:xfrm>
          <a:prstGeom prst="line">
            <a:avLst/>
          </a:prstGeom>
          <a:noFill/>
          <a:ln w="6350">
            <a:solidFill>
              <a:srgbClr val="065F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98464" y="4114800"/>
            <a:ext cx="2926080" cy="0"/>
          </a:xfrm>
          <a:prstGeom prst="line">
            <a:avLst/>
          </a:prstGeom>
          <a:noFill/>
          <a:ln w="6350">
            <a:solidFill>
              <a:srgbClr val="065F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98464" y="4709160"/>
            <a:ext cx="2926080" cy="0"/>
          </a:xfrm>
          <a:prstGeom prst="line">
            <a:avLst/>
          </a:prstGeom>
          <a:noFill/>
          <a:ln w="6350">
            <a:solidFill>
              <a:srgbClr val="065F46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463040"/>
            <a:ext cx="1463040" cy="14630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8640" y="566928"/>
            <a:ext cx="20574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5669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</a:rPr>
              <a:t>INSTITUTIONAL DSS  ·  LEVEL 3 ANALYTICS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48640" y="987552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PredictPay</a:t>
            </a:r>
            <a:endParaRPr lang="en-US" sz="5200" dirty="0"/>
          </a:p>
        </p:txBody>
      </p:sp>
      <p:sp>
        <p:nvSpPr>
          <p:cNvPr id="17" name="Text 14"/>
          <p:cNvSpPr/>
          <p:nvPr/>
        </p:nvSpPr>
        <p:spPr>
          <a:xfrm>
            <a:off x="548640" y="20299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 AR Analytics Dashboard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48640" y="267004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LSTM-Powered Decision Support System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Accounts Receivable &amp; Cash Flow Intelligence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3639312"/>
            <a:ext cx="1170432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363931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12-Week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48640" y="409651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Project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847088" y="3639312"/>
            <a:ext cx="1170432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847088" y="363931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$43,800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847088" y="409651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Budget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145536" y="3639312"/>
            <a:ext cx="1170432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45536" y="363931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≥ 85%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3145536" y="409651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Prediction Accuracy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443984" y="3639312"/>
            <a:ext cx="1170432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43984" y="363931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20%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443984" y="409651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DSO Reduction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50%+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72768" y="10515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DF4"/>
                </a:solidFill>
              </a:rPr>
              <a:t>of B2B sales are overdue at any given time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11480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5156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10%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70448" y="10515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DF4"/>
                </a:solidFill>
              </a:rPr>
              <a:t>of every finance team's workday spent manually chasing unpaid invoices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1874520"/>
            <a:ext cx="26974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74520"/>
            <a:ext cx="26974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29968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29768" y="255117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1628"/>
                </a:solidFill>
              </a:rPr>
              <a:t>Cash Flow Trapped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57200" y="2944368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Finance teams are locked in manual follow-up cycles, inflating Days Sales Outstanding (DSO) and increasing credit risk across the portfolio.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200400" y="1874520"/>
            <a:ext cx="26974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0" y="1874520"/>
            <a:ext cx="26974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029968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10128" y="255117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1628"/>
                </a:solidFill>
              </a:rPr>
              <a:t>No Predictive Intelligence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3337560" y="2944368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Xero and Sage provide historical aging reports only — no tool currently identifies which invoices will become delinquent before the due date.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080760" y="1874520"/>
            <a:ext cx="26974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0760" y="1874520"/>
            <a:ext cx="26974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29968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90488" y="255117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1628"/>
                </a:solidFill>
              </a:rPr>
              <a:t>Reactive, Not Proactive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6217920" y="2944368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Current processes trigger action after payment failure. The Board requires forward-looking signals that enable pre-emptive collection prioritization.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</a:rPr>
              <a:t>PROJECT DEFINITION  ·  STAR / SMART FRAMEWORK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658368"/>
            <a:ext cx="2057400" cy="1389888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658368"/>
            <a:ext cx="411480" cy="1389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8368"/>
            <a:ext cx="411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</a:rPr>
              <a:t>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86968" y="72237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SITUATION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" y="1005840"/>
            <a:ext cx="153619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Cash flow velocity is trapped in manual follow-up cycles, leading to inflated DSO and increased credit risk.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87752" y="658368"/>
            <a:ext cx="2057400" cy="1389888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87752" y="658368"/>
            <a:ext cx="411480" cy="1389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658368"/>
            <a:ext cx="411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</a:rPr>
              <a:t>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63240" y="72237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TASK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63240" y="1005840"/>
            <a:ext cx="153619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Initiate a 12-week project to build a predictive analytics dashboard that auto-categorizes risk and forecasts payment dates.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64024" y="658368"/>
            <a:ext cx="2057400" cy="1389888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64024" y="658368"/>
            <a:ext cx="411480" cy="1389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658368"/>
            <a:ext cx="411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39512" y="72237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ACTION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39512" y="1005840"/>
            <a:ext cx="153619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Deploy AI-Augmented Scrum with 3 × 4-week sprints, serverless-first cloud architecture, and third-party accounting APIs.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40296" y="658368"/>
            <a:ext cx="2057400" cy="1389888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0296" y="658368"/>
            <a:ext cx="411480" cy="1389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0296" y="658368"/>
            <a:ext cx="411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</a:rPr>
              <a:t>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15784" y="72237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RESULT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15784" y="1005840"/>
            <a:ext cx="153619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20% reduction in DSO and 60% automation of manual collection prioritization within first quarter of operations.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221284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</a:rPr>
              <a:t>SMART PROJECT GOAL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2523744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transition a functional Smart AR Analytics product into production by June 2026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11480" y="3154680"/>
            <a:ext cx="2606040" cy="804672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154680"/>
            <a:ext cx="411480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15468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86968" y="32095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SPECIFIC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86968" y="34747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LSTM payment forecasting for Xero/Sage customers — classifying invoices as Early, On-time, or Late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3154680"/>
            <a:ext cx="2606040" cy="804672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3154680"/>
            <a:ext cx="411480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315468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M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675888" y="32095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MEASURABLE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75888" y="34747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Prediction accuracy ≥ 85% · 20% DSO reduction · 60% automation of manual collection tasks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89320" y="3154680"/>
            <a:ext cx="2606040" cy="804672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89320" y="3154680"/>
            <a:ext cx="411480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9320" y="315468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A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464808" y="32095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ACHIEVABLE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64808" y="347472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12-week window, lean serverless squad, $43,800 minimalist budget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4069080"/>
            <a:ext cx="3931920" cy="804672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4069080"/>
            <a:ext cx="411480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06908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R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86968" y="41239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RELEVANT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86968" y="43891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Directly addresses 50%+ overdue AR backlog · 300–500% ROI in Year 1 via bad debt reduction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0" y="4069080"/>
            <a:ext cx="3931920" cy="804672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0" y="4069080"/>
            <a:ext cx="411480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406908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T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047488" y="41239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TIME-BOUND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47488" y="43891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Production cutover by Week 12 · Milestones at Weeks 4, 8,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BREAKDOWN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834640" y="987552"/>
            <a:ext cx="3474720" cy="457200"/>
          </a:xfrm>
          <a:prstGeom prst="rect">
            <a:avLst/>
          </a:prstGeom>
          <a:solidFill>
            <a:srgbClr val="0A1628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987552"/>
            <a:ext cx="3474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1.0  PredictPay Management System (MVP)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444752"/>
            <a:ext cx="0" cy="201168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645920"/>
            <a:ext cx="676656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1852" y="1645920"/>
            <a:ext cx="0" cy="201168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" y="1847088"/>
            <a:ext cx="20574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" y="1947672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18470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DF4"/>
                </a:solidFill>
              </a:rPr>
              <a:t>1.1 API Integration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0FDF4"/>
                </a:solidFill>
              </a:rPr>
              <a:t>Infrastructure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101852" y="2505456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" y="2670048"/>
            <a:ext cx="10515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" y="2670048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012" y="2834640"/>
            <a:ext cx="9601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012" y="2834640"/>
            <a:ext cx="960120" cy="5029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2588" y="2889504"/>
            <a:ext cx="886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1.1.1 Xero/Sage OAuth 2.0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Authentication Module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1627632" y="2670048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47572" y="2834640"/>
            <a:ext cx="9601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47572" y="2834640"/>
            <a:ext cx="960120" cy="5029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84148" y="2889504"/>
            <a:ext cx="886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1.1.2 Automated Ledger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Ingestion Pipeline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(Invoices &amp; Credits)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360420" y="1645920"/>
            <a:ext cx="0" cy="201168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331720" y="1847088"/>
            <a:ext cx="20574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872" y="1947672"/>
            <a:ext cx="329184" cy="32918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788920" y="18470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DF4"/>
                </a:solidFill>
              </a:rPr>
              <a:t>1.2 Predictive Core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0FDF4"/>
                </a:solidFill>
              </a:rPr>
              <a:t>Engine (Level 3)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360420" y="2505456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834640" y="2670048"/>
            <a:ext cx="10515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834640" y="2670048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2354580" y="2834640"/>
            <a:ext cx="9601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2354580" y="2834640"/>
            <a:ext cx="960120" cy="5029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391156" y="2889504"/>
            <a:ext cx="886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1.2.1 Normalized Historical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Payment Dataset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(24-month history)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3886200" y="2670048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3406140" y="2834640"/>
            <a:ext cx="9601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3406140" y="2834640"/>
            <a:ext cx="960120" cy="5029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442716" y="2889504"/>
            <a:ext cx="886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1.2.2 Validated LSTM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Payment Forecasting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Model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5646420" y="1645920"/>
            <a:ext cx="0" cy="201168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617720" y="1847088"/>
            <a:ext cx="20574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1947672"/>
            <a:ext cx="329184" cy="329184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074920" y="18470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DF4"/>
                </a:solidFill>
              </a:rPr>
              <a:t>1.3 Decision Support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0FDF4"/>
                </a:solidFill>
              </a:rPr>
              <a:t>Interface (DSS)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5646420" y="2505456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5120640" y="2670048"/>
            <a:ext cx="10515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5120640" y="2670048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4640580" y="2834640"/>
            <a:ext cx="9601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4640580" y="2834640"/>
            <a:ext cx="960120" cy="5029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677156" y="2889504"/>
            <a:ext cx="886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1.3.1 Interactive Collection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Prioritization List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(By Risk Score)</a:t>
            </a:r>
            <a:endParaRPr lang="en-US" sz="800" dirty="0"/>
          </a:p>
        </p:txBody>
      </p:sp>
      <p:sp>
        <p:nvSpPr>
          <p:cNvPr id="47" name="Shape 42"/>
          <p:cNvSpPr/>
          <p:nvPr/>
        </p:nvSpPr>
        <p:spPr>
          <a:xfrm>
            <a:off x="6172200" y="2670048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5692140" y="2834640"/>
            <a:ext cx="9601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5692140" y="2834640"/>
            <a:ext cx="960120" cy="5029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5728716" y="2889504"/>
            <a:ext cx="886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1.3.2 Executive Cash Flow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Forecast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Visualizations</a:t>
            </a:r>
            <a:endParaRPr lang="en-US" sz="800" dirty="0"/>
          </a:p>
        </p:txBody>
      </p:sp>
      <p:sp>
        <p:nvSpPr>
          <p:cNvPr id="51" name="Shape 46"/>
          <p:cNvSpPr/>
          <p:nvPr/>
        </p:nvSpPr>
        <p:spPr>
          <a:xfrm>
            <a:off x="7932420" y="1645920"/>
            <a:ext cx="0" cy="201168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6903720" y="1847088"/>
            <a:ext cx="20574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5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1947672"/>
            <a:ext cx="329184" cy="329184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7360920" y="18470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DF4"/>
                </a:solidFill>
              </a:rPr>
              <a:t>1.4 Governance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0FDF4"/>
                </a:solidFill>
              </a:rPr>
              <a:t>Compliance Artifacts</a:t>
            </a:r>
            <a:endParaRPr lang="en-US" sz="950" dirty="0"/>
          </a:p>
        </p:txBody>
      </p:sp>
      <p:sp>
        <p:nvSpPr>
          <p:cNvPr id="55" name="Shape 49"/>
          <p:cNvSpPr/>
          <p:nvPr/>
        </p:nvSpPr>
        <p:spPr>
          <a:xfrm>
            <a:off x="7932420" y="2505456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7406640" y="2670048"/>
            <a:ext cx="10515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7406640" y="2670048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6926580" y="2834640"/>
            <a:ext cx="9601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6926580" y="2834640"/>
            <a:ext cx="960120" cy="5029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6963156" y="2889504"/>
            <a:ext cx="886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1.4.1 GDPR-Compliant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Financial 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Encryption Layer</a:t>
            </a:r>
            <a:endParaRPr lang="en-US" sz="800" dirty="0"/>
          </a:p>
        </p:txBody>
      </p:sp>
      <p:sp>
        <p:nvSpPr>
          <p:cNvPr id="61" name="Shape 55"/>
          <p:cNvSpPr/>
          <p:nvPr/>
        </p:nvSpPr>
        <p:spPr>
          <a:xfrm>
            <a:off x="8458200" y="2670048"/>
            <a:ext cx="0" cy="16459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7978140" y="2834640"/>
            <a:ext cx="9601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7978140" y="2834640"/>
            <a:ext cx="960120" cy="5029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8014716" y="2889504"/>
            <a:ext cx="886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1.4.2 Automated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Audit Trail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Logger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AGILE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035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</a:rPr>
              <a:t>3 × 4-Week Sprints  ·  Least Ceremony Overhead  ·  Tracked via Burndown Charts &amp; CFD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41248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1371600" cy="11704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Sprint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90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Ingestion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Weeks 1–4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0789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DF4"/>
                </a:solidFill>
              </a:rPr>
              <a:t>Data Readiness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2024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Deliverable: Xero/Sage Connected Pipeline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1755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</a:rPr>
              <a:t>Live API feed from accounting ecosystem with validated data flow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74920" y="1307592"/>
            <a:ext cx="3657600" cy="530352"/>
          </a:xfrm>
          <a:prstGeom prst="rect">
            <a:avLst/>
          </a:prstGeom>
          <a:solidFill>
            <a:srgbClr val="0369A1">
              <a:alpha val="25000"/>
            </a:srgbClr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380744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513832" y="130759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DF4"/>
                </a:solidFill>
              </a:rPr>
              <a:t>M1: Data Readiness Sign-off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1480" y="2304288"/>
            <a:ext cx="841248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1480" y="2304288"/>
            <a:ext cx="1371600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2377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Sprint 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1148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Analytics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11480" y="3081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Weeks 5–8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920240" y="23774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DF4"/>
                </a:solidFill>
              </a:rPr>
              <a:t>Predictive Alpha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920240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Deliverable: Validated LSTM Model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920240" y="30540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</a:rPr>
              <a:t>Payment classification: Early / On-time / Late with confidence scores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74920" y="2606040"/>
            <a:ext cx="3657600" cy="530352"/>
          </a:xfrm>
          <a:prstGeom prst="rect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679192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513832" y="260604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DF4"/>
                </a:solidFill>
              </a:rPr>
              <a:t>M2: Predictive Alpha Validation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11480" y="3602736"/>
            <a:ext cx="841248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11480" y="3602736"/>
            <a:ext cx="137160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11480" y="36758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Sprint 3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411480" y="4087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Support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11480" y="43799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Weeks 9–12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1920240" y="36758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DF4"/>
                </a:solidFill>
              </a:rPr>
              <a:t>Production Ready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1920240" y="40599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Deliverable: Interactive AR Dashboard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1920240" y="43525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</a:rPr>
              <a:t>30-day Shadow Mode + super-user training for credit control team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5074920" y="3904488"/>
            <a:ext cx="3657600" cy="530352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3977640"/>
            <a:ext cx="292608" cy="29260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513832" y="390448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DF4"/>
                </a:solidFill>
              </a:rPr>
              <a:t>M3: Production Cutover Launch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411480" y="4791456"/>
            <a:ext cx="8412480" cy="274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02920" y="47914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Monitoring:  Burndown Chart — sprint progress   ·   CFD (Cumulative Flow Diagram) — WIP limits &amp; bottleneck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PROJECT REQUIREMENTS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2697480" cy="4754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0789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3816" y="98755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" y="1627632"/>
            <a:ext cx="54864" cy="3657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591056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300–500% ROI in Year 1 through reduction of bad debt write-offs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84632" y="2194560"/>
            <a:ext cx="54864" cy="3657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" y="2157984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Reduce Days Sales Outstanding (DSO) by 20% in first quarter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154680" y="987552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54680" y="987552"/>
            <a:ext cx="2697480" cy="47548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07899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48456" y="98755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Solution — Functional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319272" y="1627632"/>
            <a:ext cx="54864" cy="365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456432" y="1591056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Payment classification: Early, On-time, or Late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319272" y="2194560"/>
            <a:ext cx="54864" cy="365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56432" y="2157984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Confidence intervals for each payment date forecast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989320" y="987552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989320" y="987552"/>
            <a:ext cx="269748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078992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83096" y="98755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Solution — Non-Functional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153912" y="1627632"/>
            <a:ext cx="54864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291072" y="1591056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95–99% auto-matching accuracy on remittances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153912" y="2194560"/>
            <a:ext cx="54864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291072" y="2157984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API synchronization latency under 5 seconds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320040" y="3017520"/>
            <a:ext cx="3977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20040" y="3017520"/>
            <a:ext cx="3977640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108960"/>
            <a:ext cx="310896" cy="31089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13816" y="30175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Transition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484632" y="3657600"/>
            <a:ext cx="54864" cy="365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21792" y="3621024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Super-user training for the credit control team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484632" y="4224528"/>
            <a:ext cx="54864" cy="365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21792" y="4187952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30-day 'Shadow Mode' parallel launch vs. manual results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4526280" y="3017520"/>
            <a:ext cx="3977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4526280" y="3017520"/>
            <a:ext cx="397764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108960"/>
            <a:ext cx="310896" cy="31089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020056" y="30175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Quality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4690872" y="3657600"/>
            <a:ext cx="5486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4828032" y="3621024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Data integrity check: no duplicate transactions posted to ledger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4690872" y="4224528"/>
            <a:ext cx="5486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4828032" y="4187952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GDPR-compliant encryption for all financial data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TEAM &amp; ROLES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2743200" cy="9875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87552"/>
            <a:ext cx="2743200" cy="7315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24712"/>
            <a:ext cx="47548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14600" y="1078992"/>
            <a:ext cx="411480" cy="411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1460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16459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DF4"/>
                </a:solidFill>
              </a:rPr>
              <a:t>Product Owner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8912" y="2267712"/>
            <a:ext cx="54864" cy="9601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" y="2176272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Visionary: manages the Product Backlog and prioritizes features by Business Value (DSO reduction impact)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8912" y="3593592"/>
            <a:ext cx="54864" cy="9601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" y="3502152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Stakeholder Liaison: translates CFO/Finance Director expectations into technical user stories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200400" y="98755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0" y="987552"/>
            <a:ext cx="2743200" cy="9875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0" y="987552"/>
            <a:ext cx="2743200" cy="7315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124712"/>
            <a:ext cx="475488" cy="47548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440680" y="1078992"/>
            <a:ext cx="411480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44068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337560" y="16459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DF4"/>
                </a:solidFill>
              </a:rPr>
              <a:t>Scrum Master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3364992" y="2267712"/>
            <a:ext cx="54864" cy="9601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11296" y="2176272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Facilitator: ensures Scrum principles are followed; time-boxes ceremonies to 8 hours per sprint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3364992" y="3593592"/>
            <a:ext cx="54864" cy="9601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511296" y="3502152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Guardian: protects developers from scope creep and removes API rate-limit impediments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126480" y="98755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126480" y="987552"/>
            <a:ext cx="2743200" cy="9875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126480" y="987552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24712"/>
            <a:ext cx="475488" cy="475488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8366760" y="1078992"/>
            <a:ext cx="4114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36676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263640" y="16459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DF4"/>
                </a:solidFill>
              </a:rPr>
              <a:t>ML Engineers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FDF4"/>
                </a:solidFill>
              </a:rPr>
              <a:t>Data Quants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6291072" y="2267712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437376" y="2176272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Execution: determines model architecture and handles OAuth 2.0 API authentication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6291072" y="3593592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37376" y="3502152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Quality Owner: adheres to Definition of Done — all model iterations are peer-reviewed and tested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MINIMALIST BUDGET BREAKDOWN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Top-Down Estimate  ·  Serverless-First GCP/Vertex AI  ·  $43,800 Total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841248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24128"/>
            <a:ext cx="260787" cy="731520"/>
          </a:xfrm>
          <a:prstGeom prst="rect">
            <a:avLst/>
          </a:prstGeom>
          <a:solidFill>
            <a:srgbClr val="065F46">
              <a:alpha val="55000"/>
            </a:srgbClr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8813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DF4"/>
                </a:solidFill>
              </a:rPr>
              <a:t>Infrastructure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14081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Serverless GCP/Vertex AI Endpoints — Pay-as-you-go compute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766560" y="113385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$2,000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0" y="1133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4.6%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847088"/>
            <a:ext cx="841248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847088"/>
            <a:ext cx="137160" cy="731520"/>
          </a:xfrm>
          <a:prstGeom prst="rect">
            <a:avLst/>
          </a:prstGeom>
          <a:solidFill>
            <a:srgbClr val="065F46">
              <a:alpha val="55000"/>
            </a:srgbClr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9110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DF4"/>
                </a:solidFill>
              </a:rPr>
              <a:t>Data Licensing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6928" y="22311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Accounting Software Sandbox Access — Xero/Sage API fees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66560" y="195681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$500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0" y="1956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1.1%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670048"/>
            <a:ext cx="841248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670048"/>
            <a:ext cx="4467393" cy="731520"/>
          </a:xfrm>
          <a:prstGeom prst="rect">
            <a:avLst/>
          </a:prstGeom>
          <a:solidFill>
            <a:srgbClr val="065F46">
              <a:alpha val="55000"/>
            </a:srgbClr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7340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DF4"/>
                </a:solidFill>
              </a:rPr>
              <a:t>Personnel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30540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Junior Quant/Intern Team (Lean Squad) — model development &amp; integration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66560" y="27797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$34,500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0" y="2779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78.8%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493008"/>
            <a:ext cx="841248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493008"/>
            <a:ext cx="878738" cy="731520"/>
          </a:xfrm>
          <a:prstGeom prst="rect">
            <a:avLst/>
          </a:prstGeom>
          <a:solidFill>
            <a:srgbClr val="065F46">
              <a:alpha val="55000"/>
            </a:srgbClr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5570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DF4"/>
                </a:solidFill>
              </a:rPr>
              <a:t>Contingency (15%)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38770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Known-Unknowns: API integration rework, data cleansing overruns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66560" y="360273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$6,800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29600" y="3602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15.5%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334256"/>
            <a:ext cx="841248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33425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TOTAL  ·  Minimalist Initiation Budget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66560" y="433425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$43,800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CRITICAL EVALUATION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658368"/>
          </a:xfrm>
          <a:prstGeom prst="rect">
            <a:avLst/>
          </a:prstGeom>
          <a:solidFill>
            <a:srgbClr val="112240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9601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Key Learning: Data are first-class artifacts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50976" y="1298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70% of effort must be dedicated to data cleansing and normalization — 'Garbage In, Garbage Out' is particularly destructive in financial forecasting.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1755648"/>
            <a:ext cx="4206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755648"/>
            <a:ext cx="420624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292608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17556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CHALLENGES &amp; ALTERNATIVES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359152"/>
            <a:ext cx="64008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1792" y="2304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Integration Footprint Complexity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21792" y="25786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Xero and Sage use distinct rounding rules and tracking categories that differ from standard ML data models — requiring custom normalization pipelines.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227832"/>
            <a:ext cx="64008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1792" y="3172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Standalone CSV Upload Alternative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21792" y="34472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Considered to reduce API costs — rejected because it fails to deliver the real-time, proactive intelligence demanded by the Board.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7200" y="4096512"/>
            <a:ext cx="64008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1792" y="4041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Legacy Accounting Schema Mismatch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21792" y="43159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Historical ledger data arrives in formats incompatible with LSTM input tensors, requiring a dedicated ETL transformation layer.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800600" y="1755648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800600" y="1755648"/>
            <a:ext cx="402336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828800"/>
            <a:ext cx="292608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03520" y="17556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DECISIONS ADOPTED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937760" y="2359152"/>
            <a:ext cx="64008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102352" y="23042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API-First Connectivity Strategy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5102352" y="25786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Adopted real-time Xero/Sage OAuth 2.0 integration to ensure live, proactive signals rather than static snapshots.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937760" y="3227832"/>
            <a:ext cx="64008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102352" y="31729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Change Management Framework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5102352" y="344728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Prioritized API-first design as a change management decision — ensuring board-level buy-in for real-time visibility.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4937760" y="4096512"/>
            <a:ext cx="64008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102352" y="40416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Data-First Sprint Planning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5102352" y="431596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Allocated 70% of Sprint 1 effort to ingestion, normalization, and deduplication before any model training begins.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5072"/>
            <a:ext cx="914400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05072"/>
            <a:ext cx="91440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1148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783080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AR from a Cost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0F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to a Competitive Edge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11480" y="318211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B981"/>
                </a:solidFill>
              </a:rPr>
              <a:t>PredictPay — LSTM-Powered Smart AR Analytics DSS  ·  June 2026 Production Cutover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3602736"/>
            <a:ext cx="187452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60273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DF4"/>
                </a:solidFill>
              </a:rPr>
              <a:t>≥ 85% Accuracy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70048" y="3602736"/>
            <a:ext cx="187452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70048" y="360273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DF4"/>
                </a:solidFill>
              </a:rPr>
              <a:t>20% DSO Reduction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81728" y="3602736"/>
            <a:ext cx="187452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81728" y="360273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DF4"/>
                </a:solidFill>
              </a:rPr>
              <a:t>$43,800 Budget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93408" y="3602736"/>
            <a:ext cx="187452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93408" y="360273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DF4"/>
                </a:solidFill>
              </a:rPr>
              <a:t>300-500% ROI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11480" y="4151376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Prepared by PredictPay Project Team  ·  12-Week MVP Initiation Pitch  ·  AI-Augmented Scrum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PredictPay – Smart AR Analytics Dashboard</dc:title>
  <dc:subject>PptxGenJS Presentation</dc:subject>
  <dc:creator>PptxGenJS</dc:creator>
  <cp:lastModifiedBy>PptxGenJS</cp:lastModifiedBy>
  <cp:revision>1</cp:revision>
  <dcterms:created xsi:type="dcterms:W3CDTF">2026-03-08T00:51:43Z</dcterms:created>
  <dcterms:modified xsi:type="dcterms:W3CDTF">2026-03-08T00:51:43Z</dcterms:modified>
</cp:coreProperties>
</file>